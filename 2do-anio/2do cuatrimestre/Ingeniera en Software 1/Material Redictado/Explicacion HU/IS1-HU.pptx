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Architects Daughter"/>
      <p:regular r:id="rId24"/>
    </p:embeddedFon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B13FNiiIGc22tEJeaV9gFixod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chitectsDaugh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f599abba5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1f599abba5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599abba5c_1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1f599abba5c_1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599abba5c_1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1f599abba5c_1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599abba5c_1_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1f599abba5c_1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599abba5c_1_4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1f599abba5c_1_4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8d36474a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278d36474a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cc5290fb4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2cc5290fb4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d06325a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22d06325a2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2d06325a23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22d06325a23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2d06325a23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22d06325a23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ctrTitle"/>
          </p:nvPr>
        </p:nvSpPr>
        <p:spPr>
          <a:xfrm>
            <a:off x="1625600" y="38862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subTitle"/>
          </p:nvPr>
        </p:nvSpPr>
        <p:spPr>
          <a:xfrm>
            <a:off x="1625600" y="512445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8534400" y="6355080"/>
            <a:ext cx="304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3864864" y="6355080"/>
            <a:ext cx="463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1621536" y="6355080"/>
            <a:ext cx="162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6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6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16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2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372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  <a:defRPr sz="2800"/>
            </a:lvl1pPr>
            <a:lvl2pPr indent="-344424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  <a:defRPr sz="2400"/>
            </a:lvl2pPr>
            <a:lvl3pPr indent="-3251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29972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Char char="◻"/>
              <a:defRPr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609600" y="1219200"/>
            <a:ext cx="109728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1625600" y="29718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1727200" y="4267200"/>
            <a:ext cx="904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0" type="dt"/>
          </p:nvPr>
        </p:nvSpPr>
        <p:spPr>
          <a:xfrm>
            <a:off x="8534400" y="6355080"/>
            <a:ext cx="304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1" type="ftr"/>
          </p:nvPr>
        </p:nvSpPr>
        <p:spPr>
          <a:xfrm>
            <a:off x="3864864" y="6355080"/>
            <a:ext cx="463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1426464" y="6355080"/>
            <a:ext cx="2027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46" name="Google Shape;46;p19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19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53" name="Google Shape;53;p20"/>
          <p:cNvSpPr txBox="1"/>
          <p:nvPr>
            <p:ph idx="1" type="body"/>
          </p:nvPr>
        </p:nvSpPr>
        <p:spPr>
          <a:xfrm>
            <a:off x="609600" y="1219200"/>
            <a:ext cx="5388864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2" type="body"/>
          </p:nvPr>
        </p:nvSpPr>
        <p:spPr>
          <a:xfrm>
            <a:off x="6176265" y="1216152"/>
            <a:ext cx="5388864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609600" y="1285875"/>
            <a:ext cx="5386917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2" type="body"/>
          </p:nvPr>
        </p:nvSpPr>
        <p:spPr>
          <a:xfrm>
            <a:off x="6197604" y="1295400"/>
            <a:ext cx="5389033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62" name="Google Shape;62;p21"/>
          <p:cNvSpPr txBox="1"/>
          <p:nvPr>
            <p:ph idx="3" type="body"/>
          </p:nvPr>
        </p:nvSpPr>
        <p:spPr>
          <a:xfrm>
            <a:off x="609600" y="2133600"/>
            <a:ext cx="5384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4" type="body"/>
          </p:nvPr>
        </p:nvSpPr>
        <p:spPr>
          <a:xfrm>
            <a:off x="6197600" y="2133600"/>
            <a:ext cx="5384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69" name="Google Shape;69;p22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cxnSp>
        <p:nvCxnSpPr>
          <p:cNvPr id="74" name="Google Shape;74;p23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5" name="Google Shape;75;p23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8432800" y="304800"/>
            <a:ext cx="335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>
            <a:off x="8432800" y="1219203"/>
            <a:ext cx="33528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cxnSp>
        <p:nvCxnSpPr>
          <p:cNvPr id="82" name="Google Shape;82;p24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" name="Google Shape;83;p24"/>
          <p:cNvCxnSpPr/>
          <p:nvPr/>
        </p:nvCxnSpPr>
        <p:spPr>
          <a:xfrm rot="5400000">
            <a:off x="5220033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4" name="Google Shape;84;p24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24"/>
          <p:cNvSpPr txBox="1"/>
          <p:nvPr>
            <p:ph idx="2" type="body"/>
          </p:nvPr>
        </p:nvSpPr>
        <p:spPr>
          <a:xfrm>
            <a:off x="406400" y="304800"/>
            <a:ext cx="7620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/>
          <p:nvPr>
            <p:ph type="title"/>
          </p:nvPr>
        </p:nvSpPr>
        <p:spPr>
          <a:xfrm>
            <a:off x="609600" y="500856"/>
            <a:ext cx="109728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b="0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/>
          <p:nvPr>
            <p:ph idx="2" type="pic"/>
          </p:nvPr>
        </p:nvSpPr>
        <p:spPr>
          <a:xfrm>
            <a:off x="609600" y="1905000"/>
            <a:ext cx="109728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9" name="Google Shape;89;p25"/>
          <p:cNvSpPr txBox="1"/>
          <p:nvPr>
            <p:ph idx="1" type="body"/>
          </p:nvPr>
        </p:nvSpPr>
        <p:spPr>
          <a:xfrm>
            <a:off x="609600" y="12192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cxnSp>
        <p:nvCxnSpPr>
          <p:cNvPr id="93" name="Google Shape;93;p25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4" name="Google Shape;94;p25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 rot="5400000">
            <a:off x="3640836" y="-1812036"/>
            <a:ext cx="491032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 rot="5400000">
            <a:off x="7285037" y="182881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 rot="5400000">
            <a:off x="1697037" y="-812791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cxnSp>
        <p:nvCxnSpPr>
          <p:cNvPr id="108" name="Google Shape;108;p27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9" name="Google Shape;109;p27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10" name="Google Shape;110;p27"/>
          <p:cNvCxnSpPr/>
          <p:nvPr/>
        </p:nvCxnSpPr>
        <p:spPr>
          <a:xfrm rot="5400000">
            <a:off x="5814836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cxnSp>
        <p:nvCxnSpPr>
          <p:cNvPr id="15" name="Google Shape;15;p15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5"/>
          <p:cNvCxnSpPr/>
          <p:nvPr/>
        </p:nvCxnSpPr>
        <p:spPr>
          <a:xfrm>
            <a:off x="609600" y="1143000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5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/>
          <p:nvPr/>
        </p:nvSpPr>
        <p:spPr>
          <a:xfrm>
            <a:off x="0" y="0"/>
            <a:ext cx="12192000" cy="1909187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>
            <p:ph type="ctrTitle"/>
          </p:nvPr>
        </p:nvSpPr>
        <p:spPr>
          <a:xfrm>
            <a:off x="2351586" y="3614880"/>
            <a:ext cx="7644849" cy="1296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ct val="100000"/>
              <a:buFont typeface="Cambria"/>
              <a:buNone/>
            </a:pPr>
            <a:r>
              <a:rPr lang="es-AR" sz="4000">
                <a:solidFill>
                  <a:srgbClr val="464653"/>
                </a:solidFill>
                <a:latin typeface="Cambria"/>
                <a:ea typeface="Cambria"/>
                <a:cs typeface="Cambria"/>
                <a:sym typeface="Cambria"/>
              </a:rPr>
              <a:t>Ingeniería de Software I - 2026</a:t>
            </a:r>
            <a:endParaRPr sz="4000">
              <a:solidFill>
                <a:srgbClr val="46465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ct val="100000"/>
              <a:buFont typeface="Cambria"/>
              <a:buNone/>
            </a:pPr>
            <a:r>
              <a:rPr lang="es-AR" sz="4000">
                <a:solidFill>
                  <a:srgbClr val="46465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4000">
              <a:solidFill>
                <a:srgbClr val="46465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2429596" y="5055039"/>
            <a:ext cx="7566841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None/>
            </a:pPr>
            <a:r>
              <a:rPr lang="es-AR" sz="3200">
                <a:solidFill>
                  <a:srgbClr val="464653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 sz="3200">
              <a:solidFill>
                <a:srgbClr val="4646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759" y="338757"/>
            <a:ext cx="1220036" cy="122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205" y="338757"/>
            <a:ext cx="2539238" cy="1220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125" name="Google Shape;125;p2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126" name="Google Shape;126;p2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27" name="Google Shape;127;p2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 txBox="1"/>
          <p:nvPr>
            <p:ph idx="2" type="body"/>
          </p:nvPr>
        </p:nvSpPr>
        <p:spPr>
          <a:xfrm>
            <a:off x="1708220" y="1563761"/>
            <a:ext cx="9224387" cy="46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Font typeface="Arial"/>
              <a:buChar char="•"/>
            </a:pPr>
            <a:r>
              <a:rPr lang="es-AR" sz="2400"/>
              <a:t>Una historia de usuario es una descripción corta y simple de un requerimiento de un sistema, que se escribe en lenguaje común del usuario y desde su perspectiva. </a:t>
            </a:r>
            <a:endParaRPr/>
          </a:p>
          <a:p>
            <a:pPr indent="-227075" lvl="0" marL="458724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Arial"/>
              <a:buChar char="•"/>
            </a:pPr>
            <a:r>
              <a:rPr lang="es-AR" sz="2400"/>
              <a:t>Son utilizadas en las metodologías de desarrollo ágiles (Ejemplo: XP, SCRUM) para la especificación de requisitos </a:t>
            </a:r>
            <a:endParaRPr/>
          </a:p>
          <a:p>
            <a:pPr indent="-246380" lvl="1" marL="713746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Arial"/>
              <a:buNone/>
            </a:pPr>
            <a:r>
              <a:t/>
            </a:r>
            <a:endParaRPr sz="2000"/>
          </a:p>
          <a:p>
            <a:pPr indent="-342900" lvl="0" marL="3429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Arial"/>
              <a:buChar char="•"/>
            </a:pPr>
            <a:r>
              <a:rPr lang="es-AR" sz="2400"/>
              <a:t>La historia de usuario debe responder a tres preguntas: </a:t>
            </a:r>
            <a:endParaRPr/>
          </a:p>
          <a:p>
            <a:pPr indent="-342900" lvl="1" marL="617226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s-AR" sz="2000"/>
              <a:t>¿Quién se beneficia?</a:t>
            </a:r>
            <a:endParaRPr/>
          </a:p>
          <a:p>
            <a:pPr indent="-342900" lvl="1" marL="617226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s-AR" sz="2000"/>
              <a:t>¿Qué se quiere? </a:t>
            </a:r>
            <a:endParaRPr/>
          </a:p>
          <a:p>
            <a:pPr indent="-342900" lvl="1" marL="617226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Arial"/>
              <a:buChar char="•"/>
            </a:pPr>
            <a:r>
              <a:rPr lang="es-AR" sz="2000"/>
              <a:t>¿Cuál es el beneficio? </a:t>
            </a:r>
            <a:endParaRPr/>
          </a:p>
          <a:p>
            <a:pPr indent="-177805" lvl="1" marL="548651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/>
          <p:nvPr/>
        </p:nvSpPr>
        <p:spPr>
          <a:xfrm>
            <a:off x="1806702" y="1301750"/>
            <a:ext cx="8746998" cy="4895850"/>
          </a:xfrm>
          <a:prstGeom prst="snip1Rect">
            <a:avLst>
              <a:gd fmla="val 1512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4" name="Google Shape;134;p3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Plantilla de una Historia de Usuario</a:t>
            </a:r>
            <a:endParaRPr/>
          </a:p>
        </p:txBody>
      </p:sp>
      <p:sp>
        <p:nvSpPr>
          <p:cNvPr id="135" name="Google Shape;135;p3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136" name="Google Shape;136;p3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37" name="Google Shape;137;p3"/>
          <p:cNvSpPr txBox="1"/>
          <p:nvPr>
            <p:ph idx="2" type="body"/>
          </p:nvPr>
        </p:nvSpPr>
        <p:spPr>
          <a:xfrm>
            <a:off x="2034542" y="2004293"/>
            <a:ext cx="8172451" cy="4193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21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b="1" lang="es-AR" sz="2400"/>
              <a:t>ID</a:t>
            </a:r>
            <a:r>
              <a:rPr lang="es-AR" sz="2400"/>
              <a:t>: Identificador unívoco de la historia expresado como texto generalmente de la forma &lt;verbo&gt; &lt;sustantivo&gt;</a:t>
            </a:r>
            <a:endParaRPr/>
          </a:p>
          <a:p>
            <a:pPr indent="-227076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None/>
            </a:pPr>
            <a:r>
              <a:t/>
            </a:r>
            <a:endParaRPr sz="2400"/>
          </a:p>
          <a:p>
            <a:pPr indent="-334212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b="1" lang="es-AR" sz="2400"/>
              <a:t>TÍTULO</a:t>
            </a:r>
            <a:r>
              <a:rPr lang="es-AR" sz="2400"/>
              <a:t>:  Descripción de la historia de la forma:  </a:t>
            </a:r>
            <a:r>
              <a:rPr b="1" lang="es-AR" sz="2400"/>
              <a:t>Como</a:t>
            </a:r>
            <a:r>
              <a:rPr lang="es-AR" sz="2400"/>
              <a:t> &lt;rol&gt; </a:t>
            </a:r>
            <a:r>
              <a:rPr b="1" lang="es-AR" sz="2400"/>
              <a:t>quiero</a:t>
            </a:r>
            <a:r>
              <a:rPr lang="es-AR" sz="2400"/>
              <a:t> &lt;algo&gt; </a:t>
            </a:r>
            <a:r>
              <a:rPr b="1" lang="es-AR" sz="2400"/>
              <a:t>para </a:t>
            </a:r>
            <a:r>
              <a:rPr lang="es-AR" sz="2400"/>
              <a:t>&lt;beneficio&gt;. </a:t>
            </a:r>
            <a:endParaRPr/>
          </a:p>
          <a:p>
            <a:pPr indent="-227076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None/>
            </a:pPr>
            <a:r>
              <a:t/>
            </a:r>
            <a:endParaRPr sz="2400"/>
          </a:p>
          <a:p>
            <a:pPr indent="-334212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b="1" lang="es-AR" sz="2400"/>
              <a:t>REGLAS DE NEGOCIO</a:t>
            </a:r>
            <a:r>
              <a:rPr lang="es-AR" sz="2400"/>
              <a:t>: Conjunto de reglas, normas, políticas, etc. que condicionan el modo de operación. </a:t>
            </a:r>
            <a:endParaRPr/>
          </a:p>
          <a:p>
            <a:pPr indent="0" lvl="2" marL="594372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400"/>
          </a:p>
          <a:p>
            <a:pPr indent="-274325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6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58501" lvl="1" marL="548651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"/>
          <p:cNvGrpSpPr/>
          <p:nvPr/>
        </p:nvGrpSpPr>
        <p:grpSpPr>
          <a:xfrm>
            <a:off x="1514062" y="1309156"/>
            <a:ext cx="8773534" cy="5142460"/>
            <a:chOff x="371061" y="1309156"/>
            <a:chExt cx="8773534" cy="5142460"/>
          </a:xfrm>
        </p:grpSpPr>
        <p:sp>
          <p:nvSpPr>
            <p:cNvPr id="143" name="Google Shape;143;p4"/>
            <p:cNvSpPr/>
            <p:nvPr/>
          </p:nvSpPr>
          <p:spPr>
            <a:xfrm flipH="1">
              <a:off x="371061" y="1309157"/>
              <a:ext cx="8773534" cy="5142459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7197022" y="1309156"/>
              <a:ext cx="1947573" cy="294357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4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Plantilla de una Historia de Usuario</a:t>
            </a:r>
            <a:endParaRPr/>
          </a:p>
        </p:txBody>
      </p:sp>
      <p:sp>
        <p:nvSpPr>
          <p:cNvPr id="146" name="Google Shape;146;p4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147" name="Google Shape;147;p4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>
            <p:ph idx="2" type="body"/>
          </p:nvPr>
        </p:nvSpPr>
        <p:spPr>
          <a:xfrm>
            <a:off x="2034542" y="1397784"/>
            <a:ext cx="8172451" cy="5062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4"/>
              <a:buNone/>
            </a:pPr>
            <a:r>
              <a:t/>
            </a:r>
            <a:endParaRPr sz="1190"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9"/>
              <a:buFont typeface="Arial"/>
              <a:buChar char="•"/>
            </a:pPr>
            <a:r>
              <a:rPr b="1" lang="es-AR" sz="2380"/>
              <a:t>CRITERIOS DE ACEPTACIÓN</a:t>
            </a:r>
            <a:r>
              <a:rPr lang="es-AR" sz="2380"/>
              <a:t>: Criterios por los cuales una historia cumple con las expectativas del cliente. </a:t>
            </a:r>
            <a:br>
              <a:rPr lang="es-AR" sz="2380"/>
            </a:br>
            <a:r>
              <a:rPr lang="es-AR" sz="2380"/>
              <a:t>El formato es el siguiente:</a:t>
            </a:r>
            <a:endParaRPr/>
          </a:p>
          <a:p>
            <a:pPr indent="-342900" lvl="1" marL="6172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550"/>
              <a:buFont typeface="Arial"/>
              <a:buChar char="•"/>
            </a:pPr>
            <a:r>
              <a:rPr b="1" lang="es-AR" sz="2040">
                <a:solidFill>
                  <a:schemeClr val="dk1"/>
                </a:solidFill>
              </a:rPr>
              <a:t>Escenario</a:t>
            </a:r>
            <a:r>
              <a:rPr lang="es-AR" sz="2040">
                <a:solidFill>
                  <a:schemeClr val="dk1"/>
                </a:solidFill>
              </a:rPr>
              <a:t> 1: título del criterio.</a:t>
            </a:r>
            <a:endParaRPr/>
          </a:p>
          <a:p>
            <a:pPr indent="0" lvl="3" marL="868696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428"/>
              <a:buNone/>
            </a:pPr>
            <a:r>
              <a:rPr lang="es-AR" sz="2040"/>
              <a:t>Dado &lt;un contexto inicial&gt;,</a:t>
            </a:r>
            <a:br>
              <a:rPr lang="es-AR" sz="2040"/>
            </a:br>
            <a:r>
              <a:rPr lang="es-AR" sz="2040"/>
              <a:t>Cuando &lt;ocurre un evento&gt;,</a:t>
            </a:r>
            <a:br>
              <a:rPr lang="es-AR" sz="2040"/>
            </a:br>
            <a:r>
              <a:rPr lang="es-AR" sz="2040"/>
              <a:t>Entonces &lt;garantiza uno o mas resultados&gt;</a:t>
            </a:r>
            <a:endParaRPr/>
          </a:p>
          <a:p>
            <a:pPr indent="-146812" lvl="2" marL="765822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388"/>
              <a:buFont typeface="Arial"/>
              <a:buNone/>
            </a:pPr>
            <a:r>
              <a:t/>
            </a:r>
            <a:endParaRPr sz="510"/>
          </a:p>
          <a:p>
            <a:pPr indent="-342900" lvl="1" marL="6172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550"/>
              <a:buFont typeface="Arial"/>
              <a:buChar char="•"/>
            </a:pPr>
            <a:r>
              <a:rPr b="1" lang="es-AR" sz="2040">
                <a:solidFill>
                  <a:schemeClr val="dk1"/>
                </a:solidFill>
              </a:rPr>
              <a:t>Escenario</a:t>
            </a:r>
            <a:r>
              <a:rPr lang="es-AR" sz="2040">
                <a:solidFill>
                  <a:schemeClr val="dk1"/>
                </a:solidFill>
              </a:rPr>
              <a:t> 2: título del criterio.</a:t>
            </a:r>
            <a:endParaRPr/>
          </a:p>
          <a:p>
            <a:pPr indent="0" lvl="3" marL="868696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428"/>
              <a:buNone/>
            </a:pPr>
            <a:r>
              <a:rPr lang="es-AR" sz="2040"/>
              <a:t>Dado &lt;un contexto inicial&gt;,</a:t>
            </a:r>
            <a:br>
              <a:rPr lang="es-AR" sz="2040"/>
            </a:br>
            <a:r>
              <a:rPr lang="es-AR" sz="2040"/>
              <a:t>Cuando &lt;ocurre un evento&gt;,</a:t>
            </a:r>
            <a:br>
              <a:rPr lang="es-AR" sz="2040"/>
            </a:br>
            <a:r>
              <a:rPr lang="es-AR" sz="2040"/>
              <a:t>Entonces &lt;garantiza uno o mas resultados&gt;</a:t>
            </a:r>
            <a:endParaRPr/>
          </a:p>
          <a:p>
            <a:pPr indent="-342900" lvl="1" marL="6223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485"/>
              <a:buFont typeface="Arial"/>
              <a:buChar char="•"/>
            </a:pPr>
            <a:r>
              <a:rPr lang="es-AR" sz="2354"/>
              <a:t>….</a:t>
            </a:r>
            <a:endParaRPr/>
          </a:p>
          <a:p>
            <a:pPr indent="-342900" lvl="1" marL="6172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550"/>
              <a:buFont typeface="Arial"/>
              <a:buChar char="•"/>
            </a:pPr>
            <a:r>
              <a:rPr b="1" lang="es-AR" sz="2040">
                <a:solidFill>
                  <a:schemeClr val="dk1"/>
                </a:solidFill>
              </a:rPr>
              <a:t>Escenario</a:t>
            </a:r>
            <a:r>
              <a:rPr lang="es-AR" sz="2040">
                <a:solidFill>
                  <a:schemeClr val="dk1"/>
                </a:solidFill>
              </a:rPr>
              <a:t> N: título del criterio.</a:t>
            </a:r>
            <a:endParaRPr/>
          </a:p>
          <a:p>
            <a:pPr indent="0" lvl="3" marL="868696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428"/>
              <a:buNone/>
            </a:pPr>
            <a:r>
              <a:rPr lang="es-AR" sz="2040"/>
              <a:t>Dado &lt;un contexto inicial&gt;,</a:t>
            </a:r>
            <a:br>
              <a:rPr lang="es-AR" sz="2040"/>
            </a:br>
            <a:r>
              <a:rPr lang="es-AR" sz="2040"/>
              <a:t>Cuando &lt;ocurre un evento&gt;,</a:t>
            </a:r>
            <a:br>
              <a:rPr lang="es-AR" sz="2040"/>
            </a:br>
            <a:r>
              <a:rPr lang="es-AR" sz="2040"/>
              <a:t>Entonces &lt;garantiza uno o mas resultados&gt;</a:t>
            </a:r>
            <a:endParaRPr sz="1615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Ejemplo</a:t>
            </a:r>
            <a:endParaRPr/>
          </a:p>
        </p:txBody>
      </p:sp>
      <p:sp>
        <p:nvSpPr>
          <p:cNvPr id="155" name="Google Shape;155;p6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156" name="Google Shape;156;p6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 txBox="1"/>
          <p:nvPr>
            <p:ph idx="2" type="body"/>
          </p:nvPr>
        </p:nvSpPr>
        <p:spPr>
          <a:xfrm>
            <a:off x="480291" y="1348509"/>
            <a:ext cx="11379199" cy="5039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2"/>
              <a:buNone/>
            </a:pPr>
            <a:r>
              <a:rPr lang="es-AR" sz="2200">
                <a:latin typeface="Calibri"/>
                <a:ea typeface="Calibri"/>
                <a:cs typeface="Calibri"/>
                <a:sym typeface="Calibri"/>
              </a:rPr>
              <a:t>Se desea modelar un sistema web para la inscripción a los cursos de un Instituto. Las personas que desean asistir a algún curso previamente deben matricularse al Instituto. Para esto el sistema solicita: nombre, apellido, DNI y dirección del interesado. Un DNI no puede estar registrado dos veces con diferentes matrículas. Una vez hecho el registro y el pago correspondiente, se entrega un número de matrícula, que servirá a la persona para inscribirse a los cursos.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rPr lang="es-AR" sz="2200">
                <a:latin typeface="Calibri"/>
                <a:ea typeface="Calibri"/>
                <a:cs typeface="Calibri"/>
                <a:sym typeface="Calibri"/>
              </a:rPr>
              <a:t>Los matriculados pueden inscribirse en los cursos que se dictan en el Instituto. Cada curso tiene un costo asociado y deberá abonarse al momento de la inscripción al mismo. El sistema solicita el código de matrícula y da la opción de elegir alguno de los cursos. Cada curso tiene un cupo de 30 personas. Un alumno sólo se puede inscribir una vez a un mismo curso.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rPr lang="es-AR" sz="2200">
                <a:latin typeface="Calibri"/>
                <a:ea typeface="Calibri"/>
                <a:cs typeface="Calibri"/>
                <a:sym typeface="Calibri"/>
              </a:rPr>
              <a:t>Todos los pagos se realizan con tarjeta de crédito. Se realizará el cobro, una vez que el servidor del banco valide el número de tarjeta y verifique que el saldo sea suficiente.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68153" lvl="1" marL="548651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f599abba5c_1_0"/>
          <p:cNvSpPr txBox="1"/>
          <p:nvPr>
            <p:ph type="title"/>
          </p:nvPr>
        </p:nvSpPr>
        <p:spPr>
          <a:xfrm>
            <a:off x="480291" y="199652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Ejemplo</a:t>
            </a:r>
            <a:endParaRPr/>
          </a:p>
        </p:txBody>
      </p:sp>
      <p:sp>
        <p:nvSpPr>
          <p:cNvPr id="164" name="Google Shape;164;g1f599abba5c_1_0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165" name="Google Shape;165;g1f599abba5c_1_0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66" name="Google Shape;166;g1f599abba5c_1_0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167" name="Google Shape;167;g1f599abba5c_1_0"/>
          <p:cNvSpPr txBox="1"/>
          <p:nvPr>
            <p:ph idx="2" type="body"/>
          </p:nvPr>
        </p:nvSpPr>
        <p:spPr>
          <a:xfrm>
            <a:off x="480291" y="1348509"/>
            <a:ext cx="11379300" cy="50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2"/>
              <a:buNone/>
            </a:pPr>
            <a:r>
              <a:rPr lang="es-AR" sz="2200">
                <a:latin typeface="Calibri"/>
                <a:ea typeface="Calibri"/>
                <a:cs typeface="Calibri"/>
                <a:sym typeface="Calibri"/>
              </a:rPr>
              <a:t>Se desea modelar un sistema web para la inscripción a los cursos de un Instituto. Las personas que desean asistir a algún curso previamente deben matricularse al Instituto. Para esto el sistema solicita: nombre, apellido, DNI y dirección del interesado. Un DNI no puede estar registrado dos veces con diferentes matrículas. Una vez hecho el registro y el pago correspondiente, se entrega un número de matrícula, que servirá a la persona para inscribirse a los cursos.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rPr lang="es-AR" sz="2200">
                <a:latin typeface="Calibri"/>
                <a:ea typeface="Calibri"/>
                <a:cs typeface="Calibri"/>
                <a:sym typeface="Calibri"/>
              </a:rPr>
              <a:t>Los matriculados pueden inscribirse en los cursos que se dictan en el Instituto. Cada curso tiene un costo asociado y deberá abonarse al momento de la inscripción al mismo. El sistema primero solicita los datos del matriculado (nombre y código de matrícula) y da la opción de elegir alguno de los cursos. Cada curso tiene un cupo de 30 personas. Un alumno sólo se puede inscribir una vez a un mismo curso.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rPr lang="es-AR" sz="2200">
                <a:latin typeface="Calibri"/>
                <a:ea typeface="Calibri"/>
                <a:cs typeface="Calibri"/>
                <a:sym typeface="Calibri"/>
              </a:rPr>
              <a:t>Todos los pagos se realizan con tarjeta de crédito. Se realizará el cobro, una vez que el servidor del banco valide el número de tarjeta y verifique que el saldo sea suficiente.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68153" lvl="0" marL="274325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68153" lvl="0" marL="274325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68153" lvl="1" marL="548651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g1f599abba5c_1_0"/>
          <p:cNvGrpSpPr/>
          <p:nvPr/>
        </p:nvGrpSpPr>
        <p:grpSpPr>
          <a:xfrm rot="263237">
            <a:off x="8272224" y="89972"/>
            <a:ext cx="3977594" cy="1382714"/>
            <a:chOff x="8346754" y="68354"/>
            <a:chExt cx="3977473" cy="1382672"/>
          </a:xfrm>
        </p:grpSpPr>
        <p:pic>
          <p:nvPicPr>
            <p:cNvPr descr="C:\Users\Vero\Dropbox\Con Nico\hojita.png" id="169" name="Google Shape;169;g1f599abba5c_1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95119">
              <a:off x="8376567" y="178543"/>
              <a:ext cx="3917848" cy="1162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g1f599abba5c_1_0"/>
            <p:cNvSpPr txBox="1"/>
            <p:nvPr/>
          </p:nvSpPr>
          <p:spPr>
            <a:xfrm rot="164970">
              <a:off x="8547997" y="391903"/>
              <a:ext cx="3596040" cy="707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AR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Identificación de Roles y  Funcionalidades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sp>
        <p:nvSpPr>
          <p:cNvPr id="171" name="Google Shape;171;g1f599abba5c_1_0"/>
          <p:cNvSpPr/>
          <p:nvPr/>
        </p:nvSpPr>
        <p:spPr>
          <a:xfrm>
            <a:off x="6349140" y="1766134"/>
            <a:ext cx="28689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g1f599abba5c_1_0"/>
          <p:cNvSpPr/>
          <p:nvPr/>
        </p:nvSpPr>
        <p:spPr>
          <a:xfrm>
            <a:off x="3461913" y="3254874"/>
            <a:ext cx="59787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3" name="Google Shape;173;g1f599abba5c_1_0"/>
          <p:cNvGrpSpPr/>
          <p:nvPr/>
        </p:nvGrpSpPr>
        <p:grpSpPr>
          <a:xfrm>
            <a:off x="976184" y="3023230"/>
            <a:ext cx="2812173" cy="621972"/>
            <a:chOff x="976184" y="3023230"/>
            <a:chExt cx="2812173" cy="621972"/>
          </a:xfrm>
        </p:grpSpPr>
        <p:sp>
          <p:nvSpPr>
            <p:cNvPr id="174" name="Google Shape;174;g1f599abba5c_1_0"/>
            <p:cNvSpPr/>
            <p:nvPr/>
          </p:nvSpPr>
          <p:spPr>
            <a:xfrm>
              <a:off x="976184" y="3172102"/>
              <a:ext cx="1569300" cy="473100"/>
            </a:xfrm>
            <a:prstGeom prst="ellipse">
              <a:avLst/>
            </a:prstGeom>
            <a:noFill/>
            <a:ln cap="flat" cmpd="sng" w="381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g1f599abba5c_1_0"/>
            <p:cNvSpPr/>
            <p:nvPr/>
          </p:nvSpPr>
          <p:spPr>
            <a:xfrm flipH="1">
              <a:off x="2219057" y="3023230"/>
              <a:ext cx="1569300" cy="443700"/>
            </a:xfrm>
            <a:prstGeom prst="arc">
              <a:avLst>
                <a:gd fmla="val 10913639" name="adj1"/>
                <a:gd fmla="val 21456846" name="adj2"/>
              </a:avLst>
            </a:prstGeom>
            <a:noFill/>
            <a:ln cap="flat" cmpd="sng" w="38100">
              <a:solidFill>
                <a:srgbClr val="FFC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6" name="Google Shape;176;g1f599abba5c_1_0"/>
          <p:cNvGrpSpPr/>
          <p:nvPr/>
        </p:nvGrpSpPr>
        <p:grpSpPr>
          <a:xfrm>
            <a:off x="8179347" y="1273245"/>
            <a:ext cx="3145043" cy="660891"/>
            <a:chOff x="8179347" y="1273245"/>
            <a:chExt cx="3145043" cy="660891"/>
          </a:xfrm>
        </p:grpSpPr>
        <p:sp>
          <p:nvSpPr>
            <p:cNvPr id="177" name="Google Shape;177;g1f599abba5c_1_0"/>
            <p:cNvSpPr/>
            <p:nvPr/>
          </p:nvSpPr>
          <p:spPr>
            <a:xfrm rot="-345964">
              <a:off x="8195371" y="1386747"/>
              <a:ext cx="2281343" cy="433886"/>
            </a:xfrm>
            <a:prstGeom prst="arc">
              <a:avLst>
                <a:gd fmla="val 10797976" name="adj1"/>
                <a:gd fmla="val 21352276" name="adj2"/>
              </a:avLst>
            </a:prstGeom>
            <a:noFill/>
            <a:ln cap="flat" cmpd="sng" w="38100">
              <a:solidFill>
                <a:srgbClr val="00B05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8" name="Google Shape;178;g1f599abba5c_1_0"/>
            <p:cNvSpPr/>
            <p:nvPr/>
          </p:nvSpPr>
          <p:spPr>
            <a:xfrm>
              <a:off x="10191290" y="1368836"/>
              <a:ext cx="1133100" cy="473100"/>
            </a:xfrm>
            <a:prstGeom prst="ellipse">
              <a:avLst/>
            </a:pr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79" name="Google Shape;179;g1f599abba5c_1_0"/>
          <p:cNvGrpSpPr/>
          <p:nvPr/>
        </p:nvGrpSpPr>
        <p:grpSpPr>
          <a:xfrm>
            <a:off x="643094" y="2401556"/>
            <a:ext cx="11113599" cy="341644"/>
            <a:chOff x="643094" y="2401556"/>
            <a:chExt cx="11113599" cy="341644"/>
          </a:xfrm>
        </p:grpSpPr>
        <p:cxnSp>
          <p:nvCxnSpPr>
            <p:cNvPr id="180" name="Google Shape;180;g1f599abba5c_1_0"/>
            <p:cNvCxnSpPr/>
            <p:nvPr/>
          </p:nvCxnSpPr>
          <p:spPr>
            <a:xfrm>
              <a:off x="7355393" y="2401556"/>
              <a:ext cx="44013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g1f599abba5c_1_0"/>
            <p:cNvCxnSpPr/>
            <p:nvPr/>
          </p:nvCxnSpPr>
          <p:spPr>
            <a:xfrm>
              <a:off x="643094" y="2743200"/>
              <a:ext cx="35985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2" name="Google Shape;182;g1f599abba5c_1_0"/>
          <p:cNvGrpSpPr/>
          <p:nvPr/>
        </p:nvGrpSpPr>
        <p:grpSpPr>
          <a:xfrm>
            <a:off x="1994841" y="4551903"/>
            <a:ext cx="9329773" cy="20097"/>
            <a:chOff x="1994841" y="4551903"/>
            <a:chExt cx="9329773" cy="20097"/>
          </a:xfrm>
        </p:grpSpPr>
        <p:cxnSp>
          <p:nvCxnSpPr>
            <p:cNvPr id="183" name="Google Shape;183;g1f599abba5c_1_0"/>
            <p:cNvCxnSpPr/>
            <p:nvPr/>
          </p:nvCxnSpPr>
          <p:spPr>
            <a:xfrm>
              <a:off x="1994841" y="4551903"/>
              <a:ext cx="44013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g1f599abba5c_1_0"/>
            <p:cNvCxnSpPr/>
            <p:nvPr/>
          </p:nvCxnSpPr>
          <p:spPr>
            <a:xfrm>
              <a:off x="6923314" y="4572000"/>
              <a:ext cx="44013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5" name="Google Shape;185;g1f599abba5c_1_0"/>
          <p:cNvGrpSpPr/>
          <p:nvPr/>
        </p:nvGrpSpPr>
        <p:grpSpPr>
          <a:xfrm>
            <a:off x="624227" y="5375868"/>
            <a:ext cx="7937100" cy="361741"/>
            <a:chOff x="624227" y="5375868"/>
            <a:chExt cx="7937100" cy="361741"/>
          </a:xfrm>
        </p:grpSpPr>
        <p:cxnSp>
          <p:nvCxnSpPr>
            <p:cNvPr id="186" name="Google Shape;186;g1f599abba5c_1_0"/>
            <p:cNvCxnSpPr/>
            <p:nvPr/>
          </p:nvCxnSpPr>
          <p:spPr>
            <a:xfrm>
              <a:off x="643094" y="5375868"/>
              <a:ext cx="54528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g1f599abba5c_1_0"/>
            <p:cNvCxnSpPr/>
            <p:nvPr/>
          </p:nvCxnSpPr>
          <p:spPr>
            <a:xfrm>
              <a:off x="624227" y="5737609"/>
              <a:ext cx="7937100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f599abba5c_1_130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Ejemplo – Historias a desarrollar</a:t>
            </a:r>
            <a:endParaRPr/>
          </a:p>
        </p:txBody>
      </p:sp>
      <p:sp>
        <p:nvSpPr>
          <p:cNvPr id="193" name="Google Shape;193;g1f599abba5c_1_130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194" name="Google Shape;194;g1f599abba5c_1_130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95" name="Google Shape;195;g1f599abba5c_1_130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196" name="Google Shape;196;g1f599abba5c_1_130"/>
          <p:cNvSpPr txBox="1"/>
          <p:nvPr>
            <p:ph idx="2" type="body"/>
          </p:nvPr>
        </p:nvSpPr>
        <p:spPr>
          <a:xfrm>
            <a:off x="1690256" y="1403926"/>
            <a:ext cx="8516700" cy="4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Rol de Usuarios</a:t>
            </a:r>
            <a:r>
              <a:rPr lang="es-AR"/>
              <a:t>:</a:t>
            </a:r>
            <a:endParaRPr/>
          </a:p>
          <a:p>
            <a:pPr indent="-457198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Font typeface="Arial"/>
              <a:buChar char="•"/>
            </a:pPr>
            <a:r>
              <a:rPr lang="es-AR"/>
              <a:t>Persona (no inscripta en el instituto)</a:t>
            </a:r>
            <a:endParaRPr/>
          </a:p>
          <a:p>
            <a:pPr indent="-457198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Font typeface="Arial"/>
              <a:buChar char="•"/>
            </a:pPr>
            <a:r>
              <a:rPr lang="es-AR"/>
              <a:t>Matriculado</a:t>
            </a:r>
            <a:endParaRPr/>
          </a:p>
          <a:p>
            <a:pPr indent="-274325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  <a:p>
            <a:pPr indent="-274325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Historias de Usuario: </a:t>
            </a:r>
            <a:endParaRPr/>
          </a:p>
          <a:p>
            <a:pPr indent="-457198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Font typeface="Arial"/>
              <a:buChar char="•"/>
            </a:pPr>
            <a:r>
              <a:rPr lang="es-AR"/>
              <a:t>Matricular persona</a:t>
            </a:r>
            <a:endParaRPr/>
          </a:p>
          <a:p>
            <a:pPr indent="-457198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Font typeface="Arial"/>
              <a:buChar char="•"/>
            </a:pPr>
            <a:r>
              <a:rPr lang="es-AR"/>
              <a:t>Inscribir matriculado a curso </a:t>
            </a:r>
            <a:endParaRPr/>
          </a:p>
          <a:p>
            <a:pPr indent="-457198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Font typeface="Arial"/>
              <a:buChar char="•"/>
            </a:pPr>
            <a:r>
              <a:rPr lang="es-AR"/>
              <a:t>Pagar con tarjeta</a:t>
            </a:r>
            <a:endParaRPr/>
          </a:p>
          <a:p>
            <a:pPr indent="-274325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  <a:p>
            <a:pPr indent="-139194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  <a:p>
            <a:pPr indent="-158501" lvl="1" marL="548651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grpSp>
        <p:nvGrpSpPr>
          <p:cNvPr id="197" name="Google Shape;197;g1f599abba5c_1_130"/>
          <p:cNvGrpSpPr/>
          <p:nvPr/>
        </p:nvGrpSpPr>
        <p:grpSpPr>
          <a:xfrm rot="155902">
            <a:off x="6865598" y="2577706"/>
            <a:ext cx="5046058" cy="1538648"/>
            <a:chOff x="5081451" y="2889701"/>
            <a:chExt cx="4070470" cy="1538607"/>
          </a:xfrm>
        </p:grpSpPr>
        <p:pic>
          <p:nvPicPr>
            <p:cNvPr descr="C:\Users\Vero\Dropbox\Con Nico\hojita.png" id="198" name="Google Shape;198;g1f599abba5c_1_1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81451" y="2889701"/>
              <a:ext cx="4070470" cy="1538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g1f599abba5c_1_130"/>
            <p:cNvSpPr txBox="1"/>
            <p:nvPr/>
          </p:nvSpPr>
          <p:spPr>
            <a:xfrm rot="-30145">
              <a:off x="5394513" y="2940584"/>
              <a:ext cx="3489734" cy="1323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AR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Tener en cuenta: cuando una historia tiene “muchos” criterios de aceptación es una pauta para separarla en otras historias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200" name="Google Shape;200;g1f599abba5c_1_130"/>
          <p:cNvGrpSpPr/>
          <p:nvPr/>
        </p:nvGrpSpPr>
        <p:grpSpPr>
          <a:xfrm rot="155939">
            <a:off x="6865884" y="4363459"/>
            <a:ext cx="4739646" cy="1538648"/>
            <a:chOff x="5081451" y="2889701"/>
            <a:chExt cx="4070470" cy="1538607"/>
          </a:xfrm>
        </p:grpSpPr>
        <p:pic>
          <p:nvPicPr>
            <p:cNvPr descr="C:\Users\Vero\Dropbox\Con Nico\hojita.png" id="201" name="Google Shape;201;g1f599abba5c_1_1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81451" y="2889701"/>
              <a:ext cx="4070470" cy="1538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g1f599abba5c_1_130"/>
            <p:cNvSpPr txBox="1"/>
            <p:nvPr/>
          </p:nvSpPr>
          <p:spPr>
            <a:xfrm rot="-29951">
              <a:off x="5394511" y="2939783"/>
              <a:ext cx="3546735" cy="1323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AR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Tener en cuenta: cuando varias historias tienen criterios de aceptación comunes debería separarse en otras historias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599abba5c_1_246"/>
          <p:cNvSpPr/>
          <p:nvPr/>
        </p:nvSpPr>
        <p:spPr>
          <a:xfrm>
            <a:off x="1806702" y="1301753"/>
            <a:ext cx="8747100" cy="4542600"/>
          </a:xfrm>
          <a:prstGeom prst="snip1Rect">
            <a:avLst>
              <a:gd fmla="val 1512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8" name="Google Shape;208;g1f599abba5c_1_246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09" name="Google Shape;209;g1f599abba5c_1_246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10" name="Google Shape;210;g1f599abba5c_1_246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11" name="Google Shape;211;g1f599abba5c_1_246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212" name="Google Shape;212;g1f599abba5c_1_246"/>
          <p:cNvSpPr txBox="1"/>
          <p:nvPr>
            <p:ph idx="2" type="body"/>
          </p:nvPr>
        </p:nvSpPr>
        <p:spPr>
          <a:xfrm>
            <a:off x="2034542" y="1750405"/>
            <a:ext cx="8519100" cy="4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Id</a:t>
            </a:r>
            <a:r>
              <a:rPr lang="es-AR"/>
              <a:t>: Matricular persona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Título</a:t>
            </a:r>
            <a:r>
              <a:rPr lang="es-AR"/>
              <a:t>: Como </a:t>
            </a:r>
            <a:r>
              <a:rPr i="1" lang="es-AR"/>
              <a:t>persona</a:t>
            </a:r>
            <a:r>
              <a:rPr lang="es-AR"/>
              <a:t> quiero matricularme al instituto para poder hacer los cursos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Reglas de Negocio</a:t>
            </a:r>
            <a:r>
              <a:rPr lang="es-AR"/>
              <a:t>:</a:t>
            </a:r>
            <a:endParaRPr/>
          </a:p>
          <a:p>
            <a:pPr indent="-342897" lvl="1" marL="61722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Font typeface="Arial"/>
              <a:buChar char="•"/>
            </a:pPr>
            <a:r>
              <a:rPr lang="es-AR">
                <a:solidFill>
                  <a:schemeClr val="dk1"/>
                </a:solidFill>
              </a:rPr>
              <a:t>Un DNI no puede estar registrado dos veces con diferentes matrículas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501" lvl="1" marL="548651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0"/>
          <p:cNvGrpSpPr/>
          <p:nvPr/>
        </p:nvGrpSpPr>
        <p:grpSpPr>
          <a:xfrm>
            <a:off x="581889" y="1143001"/>
            <a:ext cx="11285213" cy="5387107"/>
            <a:chOff x="371061" y="1309156"/>
            <a:chExt cx="8773534" cy="5142460"/>
          </a:xfrm>
        </p:grpSpPr>
        <p:sp>
          <p:nvSpPr>
            <p:cNvPr id="218" name="Google Shape;218;p10"/>
            <p:cNvSpPr/>
            <p:nvPr/>
          </p:nvSpPr>
          <p:spPr>
            <a:xfrm flipH="1">
              <a:off x="371061" y="1309157"/>
              <a:ext cx="8773534" cy="5142459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7197022" y="1309156"/>
              <a:ext cx="1947573" cy="294357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10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21" name="Google Shape;221;p10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23" name="Google Shape;223;p10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 txBox="1"/>
          <p:nvPr>
            <p:ph idx="2" type="body"/>
          </p:nvPr>
        </p:nvSpPr>
        <p:spPr>
          <a:xfrm>
            <a:off x="1052945" y="1625600"/>
            <a:ext cx="10557165" cy="4826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76020"/>
              <a:buNone/>
            </a:pPr>
            <a:r>
              <a:rPr b="1" lang="es-AR" sz="1960"/>
              <a:t>Criterios de Aceptación (</a:t>
            </a:r>
            <a:r>
              <a:rPr lang="es-AR" sz="1960"/>
              <a:t>Matricular persona</a:t>
            </a:r>
            <a:r>
              <a:rPr b="1" lang="es-AR" sz="1960"/>
              <a:t>)</a:t>
            </a:r>
            <a:r>
              <a:rPr lang="es-AR" sz="1960"/>
              <a:t>: </a:t>
            </a:r>
            <a:endParaRPr/>
          </a:p>
          <a:p>
            <a:pPr indent="-274325" lvl="0" marL="274325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75966"/>
              <a:buNone/>
            </a:pPr>
            <a:r>
              <a:t/>
            </a:r>
            <a:endParaRPr sz="1190"/>
          </a:p>
          <a:p>
            <a:pPr indent="0" lvl="0" marL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9059"/>
              <a:buNone/>
            </a:pPr>
            <a:r>
              <a:rPr b="1" lang="es-AR" sz="2522">
                <a:solidFill>
                  <a:srgbClr val="473935"/>
                </a:solidFill>
              </a:rPr>
              <a:t>Escenario 1: Matriculación exitosa</a:t>
            </a:r>
            <a:endParaRPr sz="3362"/>
          </a:p>
          <a:p>
            <a:pPr indent="0" lvl="0" marL="268288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rPr b="1" lang="es-AR" sz="2382">
                <a:solidFill>
                  <a:srgbClr val="00B050"/>
                </a:solidFill>
              </a:rPr>
              <a:t>Dado </a:t>
            </a:r>
            <a:r>
              <a:rPr lang="es-AR" sz="2382"/>
              <a:t>que el DNI 22.222.222 no se encuentra matriculado y las condiciones son las adecuadas para un pago exitoso.</a:t>
            </a:r>
            <a:endParaRPr sz="336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rPr b="1" lang="es-AR" sz="2382">
                <a:solidFill>
                  <a:srgbClr val="00B050"/>
                </a:solidFill>
              </a:rPr>
              <a:t>Cuando</a:t>
            </a:r>
            <a:r>
              <a:rPr lang="es-AR" sz="2382"/>
              <a:t> la persona ingresa: “Juan Perez”, DNI 22.222.222, dirección 7 #123 y presiona “Matricularse”</a:t>
            </a:r>
            <a:endParaRPr sz="238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rPr b="1" lang="es-AR" sz="2382">
                <a:solidFill>
                  <a:srgbClr val="00B050"/>
                </a:solidFill>
              </a:rPr>
              <a:t>Entonces</a:t>
            </a:r>
            <a:r>
              <a:rPr lang="es-AR" sz="2382"/>
              <a:t>  el sistema redirige al usuario al pago de matrícula con tarjeta de crédito, espera respuesta, matrícula a la persona y genera su número de matrícula.</a:t>
            </a:r>
            <a:endParaRPr sz="3362"/>
          </a:p>
          <a:p>
            <a:pPr indent="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59059"/>
              <a:buNone/>
            </a:pPr>
            <a:r>
              <a:rPr b="1" lang="es-AR" sz="2522">
                <a:solidFill>
                  <a:srgbClr val="473935"/>
                </a:solidFill>
              </a:rPr>
              <a:t>Escenario 2: Matriculación fallida por matriculado existente </a:t>
            </a:r>
            <a:endParaRPr sz="3362"/>
          </a:p>
          <a:p>
            <a:pPr indent="0" lvl="0" marL="268288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rPr b="1" lang="es-AR" sz="2382">
                <a:solidFill>
                  <a:srgbClr val="00B050"/>
                </a:solidFill>
              </a:rPr>
              <a:t>Dado </a:t>
            </a:r>
            <a:r>
              <a:rPr lang="es-AR" sz="2382"/>
              <a:t>que el DNI 12.123.123 se encuentra matriculado</a:t>
            </a:r>
            <a:endParaRPr sz="336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rPr b="1" lang="es-AR" sz="2382">
                <a:solidFill>
                  <a:srgbClr val="00B050"/>
                </a:solidFill>
              </a:rPr>
              <a:t>Cuando</a:t>
            </a:r>
            <a:r>
              <a:rPr lang="es-AR" sz="2382"/>
              <a:t> la persona ingresa: “Ana Díaz”, DNI 12.123.123 y dirección 51 #1321 y presiona “Matricularse”</a:t>
            </a:r>
            <a:endParaRPr sz="238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rPr b="1" lang="es-AR" sz="2382">
                <a:solidFill>
                  <a:srgbClr val="00B050"/>
                </a:solidFill>
              </a:rPr>
              <a:t>Entonces</a:t>
            </a:r>
            <a:r>
              <a:rPr lang="es-AR" sz="2382"/>
              <a:t> el sistema informa que la persona ya se encuentra matriculada</a:t>
            </a:r>
            <a:endParaRPr sz="238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ct val="58038"/>
              <a:buNone/>
            </a:pPr>
            <a:r>
              <a:t/>
            </a:r>
            <a:endParaRPr sz="2382"/>
          </a:p>
          <a:p>
            <a:pPr indent="0" lvl="0" marL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59059"/>
              <a:buFont typeface="Arial"/>
              <a:buNone/>
            </a:pPr>
            <a:r>
              <a:rPr b="1" lang="es-AR" sz="2522">
                <a:solidFill>
                  <a:srgbClr val="473935"/>
                </a:solidFill>
              </a:rPr>
              <a:t>Escenario 3: Matriculación fallida por error en pago</a:t>
            </a:r>
            <a:endParaRPr sz="336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58038"/>
              <a:buFont typeface="Arial"/>
              <a:buNone/>
            </a:pPr>
            <a:r>
              <a:rPr b="1" lang="es-AR" sz="2382">
                <a:solidFill>
                  <a:srgbClr val="00B050"/>
                </a:solidFill>
              </a:rPr>
              <a:t>Dado </a:t>
            </a:r>
            <a:r>
              <a:rPr lang="es-AR" sz="2382"/>
              <a:t>que el DNI 22.222.222 no se encuentra matriculado y las condiciones no son las adecuadas para un pago exitoso.</a:t>
            </a:r>
            <a:endParaRPr sz="238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58038"/>
              <a:buFont typeface="Arial"/>
              <a:buNone/>
            </a:pPr>
            <a:r>
              <a:rPr b="1" lang="es-AR" sz="2382">
                <a:solidFill>
                  <a:srgbClr val="00B050"/>
                </a:solidFill>
              </a:rPr>
              <a:t>Cuando</a:t>
            </a:r>
            <a:r>
              <a:rPr lang="es-AR" sz="2382"/>
              <a:t> la persona ingresa: “Juan Perez”, DNI 22.222.222, dirección 7 #123 y presiona “Matricularse”</a:t>
            </a:r>
            <a:endParaRPr sz="2382"/>
          </a:p>
          <a:p>
            <a:pPr indent="0" lvl="0" marL="268287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58038"/>
              <a:buFont typeface="Arial"/>
              <a:buNone/>
            </a:pPr>
            <a:r>
              <a:rPr b="1" lang="es-AR" sz="2382">
                <a:solidFill>
                  <a:srgbClr val="00B050"/>
                </a:solidFill>
              </a:rPr>
              <a:t>Entonces</a:t>
            </a:r>
            <a:r>
              <a:rPr lang="es-AR" sz="2382"/>
              <a:t>  el sistema redirige al usuario al pago de matrícula con tarjeta de crédito, espera respuesta e informa que el pago no ha sido correcto por lo que no se pudo matricular a la persona.</a:t>
            </a:r>
            <a:endParaRPr sz="2382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599abba5c_1_357"/>
          <p:cNvSpPr/>
          <p:nvPr/>
        </p:nvSpPr>
        <p:spPr>
          <a:xfrm>
            <a:off x="1806702" y="1301753"/>
            <a:ext cx="9276900" cy="4542600"/>
          </a:xfrm>
          <a:prstGeom prst="snip1Rect">
            <a:avLst>
              <a:gd fmla="val 1512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0" name="Google Shape;230;g1f599abba5c_1_357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31" name="Google Shape;231;g1f599abba5c_1_357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32" name="Google Shape;232;g1f599abba5c_1_357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33" name="Google Shape;233;g1f599abba5c_1_357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234" name="Google Shape;234;g1f599abba5c_1_357"/>
          <p:cNvSpPr txBox="1"/>
          <p:nvPr>
            <p:ph idx="2" type="body"/>
          </p:nvPr>
        </p:nvSpPr>
        <p:spPr>
          <a:xfrm>
            <a:off x="2034542" y="1603515"/>
            <a:ext cx="8827800" cy="47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Id</a:t>
            </a:r>
            <a:r>
              <a:rPr lang="es-AR"/>
              <a:t>: Inscribir matriculado a curso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Título</a:t>
            </a:r>
            <a:r>
              <a:rPr lang="es-AR"/>
              <a:t>: Como </a:t>
            </a:r>
            <a:r>
              <a:rPr i="1" lang="es-AR"/>
              <a:t>matriculado</a:t>
            </a:r>
            <a:r>
              <a:rPr lang="es-AR"/>
              <a:t> quiero inscribirme a un curso para adquirir mas conocimiento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Reglas de Negocio</a:t>
            </a:r>
            <a:r>
              <a:rPr lang="es-AR"/>
              <a:t>:</a:t>
            </a:r>
            <a:endParaRPr/>
          </a:p>
          <a:p>
            <a:pPr indent="-342897" lvl="1" marL="61722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Font typeface="Arial"/>
              <a:buChar char="•"/>
            </a:pPr>
            <a:r>
              <a:rPr lang="es-AR">
                <a:solidFill>
                  <a:schemeClr val="dk1"/>
                </a:solidFill>
              </a:rPr>
              <a:t>El curso tiene un cupo de 30 inscriptos</a:t>
            </a:r>
            <a:endParaRPr/>
          </a:p>
          <a:p>
            <a:pPr indent="-342897" lvl="1" marL="61722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Font typeface="Arial"/>
              <a:buChar char="•"/>
            </a:pPr>
            <a:r>
              <a:rPr lang="es-AR">
                <a:solidFill>
                  <a:schemeClr val="dk1"/>
                </a:solidFill>
              </a:rPr>
              <a:t>Un matriculado solo se puede inscribir 1 vez a un mismo curso</a:t>
            </a:r>
            <a:endParaRPr>
              <a:solidFill>
                <a:schemeClr val="dk1"/>
              </a:solidFill>
            </a:endParaRPr>
          </a:p>
          <a:p>
            <a:pPr indent="-139194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 txBox="1"/>
          <p:nvPr>
            <p:ph type="title"/>
          </p:nvPr>
        </p:nvSpPr>
        <p:spPr>
          <a:xfrm>
            <a:off x="447200" y="0"/>
            <a:ext cx="10972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40" name="Google Shape;240;p12"/>
          <p:cNvSpPr txBox="1"/>
          <p:nvPr>
            <p:ph idx="11" type="ftr"/>
          </p:nvPr>
        </p:nvSpPr>
        <p:spPr>
          <a:xfrm>
            <a:off x="4241634" y="6278931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41" name="Google Shape;241;p12"/>
          <p:cNvSpPr txBox="1"/>
          <p:nvPr>
            <p:ph idx="12" type="sldNum"/>
          </p:nvPr>
        </p:nvSpPr>
        <p:spPr>
          <a:xfrm>
            <a:off x="816864" y="6175486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42" name="Google Shape;242;p12"/>
          <p:cNvSpPr txBox="1"/>
          <p:nvPr>
            <p:ph idx="1" type="body"/>
          </p:nvPr>
        </p:nvSpPr>
        <p:spPr>
          <a:xfrm>
            <a:off x="4437" y="6270753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grpSp>
        <p:nvGrpSpPr>
          <p:cNvPr id="243" name="Google Shape;243;p12"/>
          <p:cNvGrpSpPr/>
          <p:nvPr/>
        </p:nvGrpSpPr>
        <p:grpSpPr>
          <a:xfrm>
            <a:off x="200968" y="914504"/>
            <a:ext cx="11465168" cy="5762632"/>
            <a:chOff x="371061" y="1309156"/>
            <a:chExt cx="8773534" cy="5142460"/>
          </a:xfrm>
        </p:grpSpPr>
        <p:sp>
          <p:nvSpPr>
            <p:cNvPr id="244" name="Google Shape;244;p12"/>
            <p:cNvSpPr/>
            <p:nvPr/>
          </p:nvSpPr>
          <p:spPr>
            <a:xfrm flipH="1">
              <a:off x="371061" y="1309157"/>
              <a:ext cx="8773534" cy="5142459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7197022" y="1309156"/>
              <a:ext cx="1947573" cy="294357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2"/>
          <p:cNvSpPr txBox="1"/>
          <p:nvPr>
            <p:ph idx="2" type="body"/>
          </p:nvPr>
        </p:nvSpPr>
        <p:spPr>
          <a:xfrm>
            <a:off x="755250" y="807525"/>
            <a:ext cx="10681500" cy="5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30"/>
              <a:buNone/>
            </a:pPr>
            <a:r>
              <a:rPr b="1" lang="es-AR" sz="1800"/>
              <a:t>Criterios de Aceptación (Elegir un curso)</a:t>
            </a:r>
            <a:r>
              <a:rPr lang="es-AR" sz="1800"/>
              <a:t>: </a:t>
            </a:r>
            <a:endParaRPr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/>
              <a:t>Escenario 1:  Inscripción exitosa</a:t>
            </a:r>
            <a:endParaRPr sz="2700"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>
                <a:solidFill>
                  <a:srgbClr val="00B050"/>
                </a:solidFill>
              </a:rPr>
              <a:t>Dada</a:t>
            </a:r>
            <a:r>
              <a:rPr lang="es-AR" sz="1900">
                <a:solidFill>
                  <a:schemeClr val="dk1"/>
                </a:solidFill>
              </a:rPr>
              <a:t> la matricula 2345 perteneciente a un matriculado que no se encuentra inscripto al curso “Matemática I” el cual tiene cupo disponible y </a:t>
            </a:r>
            <a:r>
              <a:rPr lang="es-AR" sz="1820">
                <a:solidFill>
                  <a:schemeClr val="dk1"/>
                </a:solidFill>
              </a:rPr>
              <a:t>l</a:t>
            </a:r>
            <a:r>
              <a:rPr lang="es-AR" sz="1920">
                <a:solidFill>
                  <a:schemeClr val="dk1"/>
                </a:solidFill>
              </a:rPr>
              <a:t>as condiciones son las adecuadas para un pago exitoso</a:t>
            </a:r>
            <a:r>
              <a:rPr lang="es-AR" sz="182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>
                <a:solidFill>
                  <a:srgbClr val="00B050"/>
                </a:solidFill>
              </a:rPr>
              <a:t>cuando</a:t>
            </a:r>
            <a:r>
              <a:rPr lang="es-AR" sz="1900">
                <a:solidFill>
                  <a:schemeClr val="dk1"/>
                </a:solidFill>
              </a:rPr>
              <a:t> el matriculado ingresa la matrícula 2345, selecciona el curso “Matemática I” y presiona “Inscribirse”</a:t>
            </a:r>
            <a:endParaRPr sz="1900">
              <a:solidFill>
                <a:schemeClr val="dk1"/>
              </a:solidFill>
            </a:endParaRPr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>
                <a:solidFill>
                  <a:srgbClr val="00B050"/>
                </a:solidFill>
              </a:rPr>
              <a:t>entonces</a:t>
            </a:r>
            <a:r>
              <a:rPr lang="es-AR" sz="1900">
                <a:solidFill>
                  <a:schemeClr val="dk1"/>
                </a:solidFill>
              </a:rPr>
              <a:t> el sistema redirige al usuario al pago de inscripción con tarjeta de crédito, espera respuesta, </a:t>
            </a:r>
            <a:r>
              <a:rPr lang="es-AR" sz="1800">
                <a:solidFill>
                  <a:schemeClr val="dk1"/>
                </a:solidFill>
              </a:rPr>
              <a:t>inscribe al matriculado en el curso y aumenta en 1 el número de inscriptos al curso.</a:t>
            </a:r>
            <a:endParaRPr sz="2600"/>
          </a:p>
          <a:p>
            <a:pPr indent="457200" lvl="1" marL="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457200" lvl="1" marL="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/>
              <a:t>Escenario 2:  Inscripción fallida por falta de cupo</a:t>
            </a:r>
            <a:endParaRPr sz="2700"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>
                <a:solidFill>
                  <a:srgbClr val="00B050"/>
                </a:solidFill>
              </a:rPr>
              <a:t>Dada</a:t>
            </a:r>
            <a:r>
              <a:rPr lang="es-AR" sz="1900">
                <a:solidFill>
                  <a:schemeClr val="dk1"/>
                </a:solidFill>
              </a:rPr>
              <a:t> la matrícula 1234 que pertenece a un matriculado que no se encuentra inscripto al curso “Matemática 2”,  el cual no tiene cupo disponible</a:t>
            </a:r>
            <a:endParaRPr sz="1900">
              <a:solidFill>
                <a:schemeClr val="dk1"/>
              </a:solidFill>
            </a:endParaRPr>
          </a:p>
          <a:p>
            <a:pPr indent="0" lvl="1" marL="542614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>
                <a:solidFill>
                  <a:srgbClr val="00B050"/>
                </a:solidFill>
              </a:rPr>
              <a:t>cuando</a:t>
            </a:r>
            <a:r>
              <a:rPr lang="es-AR" sz="1900">
                <a:solidFill>
                  <a:schemeClr val="dk1"/>
                </a:solidFill>
              </a:rPr>
              <a:t> el matriculado ingresa la matrícula 1234, elige el curso “Matemática 2” y presiona “Inscribirse”</a:t>
            </a:r>
            <a:endParaRPr sz="2700"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900">
                <a:solidFill>
                  <a:srgbClr val="00B050"/>
                </a:solidFill>
              </a:rPr>
              <a:t>entonces</a:t>
            </a:r>
            <a:r>
              <a:rPr lang="es-AR" sz="1900">
                <a:solidFill>
                  <a:schemeClr val="dk1"/>
                </a:solidFill>
              </a:rPr>
              <a:t> el sistema informa que no hay cupo en el curso.</a:t>
            </a:r>
            <a:endParaRPr sz="1900">
              <a:solidFill>
                <a:schemeClr val="dk1"/>
              </a:solidFill>
            </a:endParaRPr>
          </a:p>
          <a:p>
            <a:pPr indent="0" lvl="1" marL="542614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700"/>
              <a:t>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f599abba5c_1_468"/>
          <p:cNvSpPr txBox="1"/>
          <p:nvPr>
            <p:ph type="title"/>
          </p:nvPr>
        </p:nvSpPr>
        <p:spPr>
          <a:xfrm>
            <a:off x="447200" y="0"/>
            <a:ext cx="10972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52" name="Google Shape;252;g1f599abba5c_1_468"/>
          <p:cNvSpPr txBox="1"/>
          <p:nvPr>
            <p:ph idx="11" type="ftr"/>
          </p:nvPr>
        </p:nvSpPr>
        <p:spPr>
          <a:xfrm>
            <a:off x="4241634" y="6278931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53" name="Google Shape;253;g1f599abba5c_1_468"/>
          <p:cNvSpPr txBox="1"/>
          <p:nvPr>
            <p:ph idx="12" type="sldNum"/>
          </p:nvPr>
        </p:nvSpPr>
        <p:spPr>
          <a:xfrm>
            <a:off x="816864" y="6175486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54" name="Google Shape;254;g1f599abba5c_1_468"/>
          <p:cNvSpPr txBox="1"/>
          <p:nvPr>
            <p:ph idx="1" type="body"/>
          </p:nvPr>
        </p:nvSpPr>
        <p:spPr>
          <a:xfrm>
            <a:off x="4437" y="6270753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grpSp>
        <p:nvGrpSpPr>
          <p:cNvPr id="255" name="Google Shape;255;g1f599abba5c_1_468"/>
          <p:cNvGrpSpPr/>
          <p:nvPr/>
        </p:nvGrpSpPr>
        <p:grpSpPr>
          <a:xfrm>
            <a:off x="201016" y="914506"/>
            <a:ext cx="11465245" cy="5762799"/>
            <a:chOff x="371095" y="1309156"/>
            <a:chExt cx="8773527" cy="5142601"/>
          </a:xfrm>
        </p:grpSpPr>
        <p:sp>
          <p:nvSpPr>
            <p:cNvPr id="256" name="Google Shape;256;g1f599abba5c_1_468"/>
            <p:cNvSpPr/>
            <p:nvPr/>
          </p:nvSpPr>
          <p:spPr>
            <a:xfrm flipH="1">
              <a:off x="371095" y="1309157"/>
              <a:ext cx="8773500" cy="5142600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7" name="Google Shape;257;g1f599abba5c_1_468"/>
            <p:cNvSpPr/>
            <p:nvPr/>
          </p:nvSpPr>
          <p:spPr>
            <a:xfrm>
              <a:off x="7197022" y="1309156"/>
              <a:ext cx="1947600" cy="2943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g1f599abba5c_1_468"/>
          <p:cNvSpPr txBox="1"/>
          <p:nvPr>
            <p:ph idx="2" type="body"/>
          </p:nvPr>
        </p:nvSpPr>
        <p:spPr>
          <a:xfrm>
            <a:off x="755250" y="807525"/>
            <a:ext cx="10681500" cy="5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30"/>
              <a:buNone/>
            </a:pPr>
            <a:r>
              <a:rPr b="1" lang="es-AR" sz="1800"/>
              <a:t>Criterios de Aceptación (Elegir un curso)</a:t>
            </a:r>
            <a:r>
              <a:rPr lang="es-AR" sz="1800"/>
              <a:t>: </a:t>
            </a:r>
            <a:endParaRPr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600"/>
              <a:t>Escenario 3: Inscripción fallida porque el alumno ya está inscripto en el curso</a:t>
            </a:r>
            <a:endParaRPr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800">
                <a:solidFill>
                  <a:srgbClr val="00B050"/>
                </a:solidFill>
              </a:rPr>
              <a:t>Dada</a:t>
            </a:r>
            <a:r>
              <a:rPr lang="es-AR" sz="1800">
                <a:solidFill>
                  <a:schemeClr val="dk1"/>
                </a:solidFill>
              </a:rPr>
              <a:t> la matrícula 1234 la cual pertenece a un matriculado que ya se encuentra inscripto al curso “Matemática I”, el cual tiene cupo disponible </a:t>
            </a:r>
            <a:endParaRPr sz="2600"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800">
                <a:solidFill>
                  <a:srgbClr val="00B050"/>
                </a:solidFill>
              </a:rPr>
              <a:t>cuando</a:t>
            </a:r>
            <a:r>
              <a:rPr lang="es-AR" sz="1800">
                <a:solidFill>
                  <a:schemeClr val="dk1"/>
                </a:solidFill>
              </a:rPr>
              <a:t> el matriculado ingresa la matrícula 1234, elige el curso “Matemática I” y presiona “Inscribirse”</a:t>
            </a:r>
            <a:endParaRPr sz="2600"/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800">
                <a:solidFill>
                  <a:srgbClr val="00B050"/>
                </a:solidFill>
              </a:rPr>
              <a:t>entonces</a:t>
            </a:r>
            <a:r>
              <a:rPr lang="es-AR" sz="1800">
                <a:solidFill>
                  <a:schemeClr val="dk1"/>
                </a:solidFill>
              </a:rPr>
              <a:t> el sistema informa que ya se encuentra inscripto al curso.</a:t>
            </a:r>
            <a:endParaRPr sz="1800">
              <a:solidFill>
                <a:schemeClr val="dk1"/>
              </a:solidFill>
            </a:endParaRPr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1" marL="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800"/>
              <a:t>     Escenario 4: Inscripción fallida por matrícula inexistente</a:t>
            </a:r>
            <a:endParaRPr sz="1800">
              <a:solidFill>
                <a:schemeClr val="dk1"/>
              </a:solidFill>
            </a:endParaRPr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140"/>
              <a:buNone/>
            </a:pPr>
            <a:r>
              <a:rPr b="1" lang="es-AR" sz="1800">
                <a:solidFill>
                  <a:srgbClr val="00B050"/>
                </a:solidFill>
              </a:rPr>
              <a:t>Dada</a:t>
            </a:r>
            <a:r>
              <a:rPr lang="es-AR" sz="1800">
                <a:solidFill>
                  <a:schemeClr val="dk1"/>
                </a:solidFill>
              </a:rPr>
              <a:t>  la matrícula 2345 que no pertenece a ningún matriculado en el sistema y el curso “Matemática I” tiene cupo disponible </a:t>
            </a:r>
            <a:endParaRPr sz="1800">
              <a:solidFill>
                <a:schemeClr val="dk1"/>
              </a:solidFill>
            </a:endParaRPr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rPr b="1" lang="es-AR" sz="1800">
                <a:solidFill>
                  <a:srgbClr val="00B050"/>
                </a:solidFill>
              </a:rPr>
              <a:t>cuando</a:t>
            </a:r>
            <a:r>
              <a:rPr lang="es-AR" sz="1800">
                <a:solidFill>
                  <a:schemeClr val="dk1"/>
                </a:solidFill>
              </a:rPr>
              <a:t> se ingresa la matrícula 2345, se selecciona el curso “Matemática I” y se presiona “Inscribirse”</a:t>
            </a:r>
            <a:endParaRPr sz="2600"/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rPr b="1" lang="es-AR" sz="1800">
                <a:solidFill>
                  <a:srgbClr val="00B050"/>
                </a:solidFill>
              </a:rPr>
              <a:t>entonces</a:t>
            </a:r>
            <a:r>
              <a:rPr lang="es-AR" sz="1800">
                <a:solidFill>
                  <a:schemeClr val="dk1"/>
                </a:solidFill>
              </a:rPr>
              <a:t> el sistema informa que la matrícula ingresada no es válida.</a:t>
            </a:r>
            <a:endParaRPr sz="1800">
              <a:solidFill>
                <a:schemeClr val="dk1"/>
              </a:solidFill>
            </a:endParaRPr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1" marL="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rPr b="1" lang="es-AR" sz="1600"/>
              <a:t>     </a:t>
            </a:r>
            <a:r>
              <a:rPr b="1" lang="es-AR" sz="1700"/>
              <a:t>Escenario 5:  Inscripción fallida por error en el pago</a:t>
            </a:r>
            <a:endParaRPr sz="2500"/>
          </a:p>
          <a:p>
            <a:pPr indent="0" lvl="1" marL="542613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rPr b="1" lang="es-AR" sz="1700">
                <a:solidFill>
                  <a:srgbClr val="00B050"/>
                </a:solidFill>
              </a:rPr>
              <a:t>Dada</a:t>
            </a:r>
            <a:r>
              <a:rPr lang="es-AR" sz="1700">
                <a:solidFill>
                  <a:schemeClr val="dk1"/>
                </a:solidFill>
              </a:rPr>
              <a:t> la matricula 2345 perteneciente a un matriculado que no se encuentra inscripto al curso “Matemática I” el cual tiene cupo disponible y </a:t>
            </a:r>
            <a:r>
              <a:rPr lang="es-AR" sz="1820">
                <a:solidFill>
                  <a:schemeClr val="dk1"/>
                </a:solidFill>
              </a:rPr>
              <a:t>las condiciones no son las adecuadas para un pago exitoso</a:t>
            </a:r>
            <a:endParaRPr/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rPr b="1" lang="es-AR" sz="1700">
                <a:solidFill>
                  <a:srgbClr val="00B050"/>
                </a:solidFill>
              </a:rPr>
              <a:t>cuando</a:t>
            </a:r>
            <a:r>
              <a:rPr lang="es-AR" sz="1700">
                <a:solidFill>
                  <a:schemeClr val="dk1"/>
                </a:solidFill>
              </a:rPr>
              <a:t> el matriculado ingresa la matrícula 2345, selecciona el curso “Matemática I” y presiona “Inscribirse”</a:t>
            </a:r>
            <a:endParaRPr sz="1700">
              <a:solidFill>
                <a:schemeClr val="dk1"/>
              </a:solidFill>
            </a:endParaRPr>
          </a:p>
          <a:p>
            <a:pPr indent="0" lvl="1" marL="542612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rPr b="1" lang="es-AR" sz="1700">
                <a:solidFill>
                  <a:srgbClr val="00B050"/>
                </a:solidFill>
              </a:rPr>
              <a:t>entonces</a:t>
            </a:r>
            <a:r>
              <a:rPr lang="es-AR" sz="1700">
                <a:solidFill>
                  <a:schemeClr val="dk1"/>
                </a:solidFill>
              </a:rPr>
              <a:t> el sistema redirige al usuario al pago de inscripción con tarjeta de crédito, espera respuesta e informa que hubo un error en el pago por lo que no se pudo llevar a cabo la inscripción</a:t>
            </a:r>
            <a:r>
              <a:rPr lang="es-AR" sz="1600">
                <a:solidFill>
                  <a:schemeClr val="dk1"/>
                </a:solidFill>
              </a:rPr>
              <a:t>.</a:t>
            </a:r>
            <a:endParaRPr b="1" sz="15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1806702" y="1301753"/>
            <a:ext cx="8746998" cy="4542459"/>
          </a:xfrm>
          <a:prstGeom prst="snip1Rect">
            <a:avLst>
              <a:gd fmla="val 1512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4" name="Google Shape;264;p13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65" name="Google Shape;265;p13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66" name="Google Shape;266;p13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67" name="Google Shape;267;p13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>
            <p:ph idx="2" type="body"/>
          </p:nvPr>
        </p:nvSpPr>
        <p:spPr>
          <a:xfrm>
            <a:off x="2034550" y="1603524"/>
            <a:ext cx="81723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s-AR"/>
              <a:t>Id</a:t>
            </a:r>
            <a:r>
              <a:rPr lang="es-AR"/>
              <a:t>: Pagar con Tarjeta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b="1" lang="es-AR"/>
              <a:t>Título</a:t>
            </a:r>
            <a:r>
              <a:rPr lang="es-AR"/>
              <a:t>: Como </a:t>
            </a:r>
            <a:r>
              <a:rPr i="1" lang="es-AR"/>
              <a:t>persona o matriculado</a:t>
            </a:r>
            <a:r>
              <a:rPr lang="es-AR"/>
              <a:t> quiero pagar con tarjeta para matricularme o inscribirme a un curso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77333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b="1" lang="es-AR"/>
              <a:t>Reglas de Negocio</a:t>
            </a:r>
            <a:r>
              <a:rPr lang="es-AR"/>
              <a:t>:</a:t>
            </a:r>
            <a:endParaRPr/>
          </a:p>
          <a:p>
            <a:pPr indent="-343458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6000"/>
              <a:buChar char="-"/>
            </a:pPr>
            <a:r>
              <a:rPr lang="es-AR"/>
              <a:t>Solo se aceptan números correspondientes a tarjetas de crédito</a:t>
            </a:r>
            <a:endParaRPr/>
          </a:p>
          <a:p>
            <a:pPr indent="0" lvl="1" marL="27432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39196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8d36474aa_0_11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74" name="Google Shape;274;g278d36474aa_0_11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75" name="Google Shape;275;g278d36474aa_0_11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76" name="Google Shape;276;g278d36474aa_0_11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grpSp>
        <p:nvGrpSpPr>
          <p:cNvPr id="277" name="Google Shape;277;g278d36474aa_0_11"/>
          <p:cNvGrpSpPr/>
          <p:nvPr/>
        </p:nvGrpSpPr>
        <p:grpSpPr>
          <a:xfrm>
            <a:off x="904411" y="1103189"/>
            <a:ext cx="10471204" cy="5618806"/>
            <a:chOff x="371095" y="1309156"/>
            <a:chExt cx="8773527" cy="5142601"/>
          </a:xfrm>
        </p:grpSpPr>
        <p:sp>
          <p:nvSpPr>
            <p:cNvPr id="278" name="Google Shape;278;g278d36474aa_0_11"/>
            <p:cNvSpPr/>
            <p:nvPr/>
          </p:nvSpPr>
          <p:spPr>
            <a:xfrm flipH="1">
              <a:off x="371095" y="1309157"/>
              <a:ext cx="8773500" cy="5142600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9" name="Google Shape;279;g278d36474aa_0_11"/>
            <p:cNvSpPr/>
            <p:nvPr/>
          </p:nvSpPr>
          <p:spPr>
            <a:xfrm>
              <a:off x="7197022" y="1309156"/>
              <a:ext cx="1947600" cy="2943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g278d36474aa_0_11"/>
          <p:cNvSpPr txBox="1"/>
          <p:nvPr>
            <p:ph idx="2" type="body"/>
          </p:nvPr>
        </p:nvSpPr>
        <p:spPr>
          <a:xfrm>
            <a:off x="1611300" y="1225526"/>
            <a:ext cx="9455400" cy="6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0"/>
              <a:buNone/>
            </a:pPr>
            <a:r>
              <a:rPr b="1" lang="es-AR" sz="2000"/>
              <a:t>Criterios de Aceptación (Pagar con Tarjeta)</a:t>
            </a:r>
            <a:r>
              <a:rPr lang="es-AR" sz="2000"/>
              <a:t>: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0"/>
              <a:buNone/>
            </a:pPr>
            <a:r>
              <a:t/>
            </a:r>
            <a:endParaRPr sz="20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rPr b="1" lang="es-AR" sz="1600"/>
              <a:t>Escenario 1: Pago exitoso</a:t>
            </a:r>
            <a:endParaRPr b="1" sz="1600"/>
          </a:p>
          <a:p>
            <a:pPr indent="0" lvl="0" marL="7315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1600">
                <a:solidFill>
                  <a:srgbClr val="00B050"/>
                </a:solidFill>
              </a:rPr>
              <a:t>Dado</a:t>
            </a:r>
            <a:r>
              <a:rPr lang="es-AR" sz="1600"/>
              <a:t> que la conexión con el servidor del banco es exitosa, el número 1234 corresponde a una tarjeta de crédito y la tarjeta tiene saldo</a:t>
            </a:r>
            <a:endParaRPr sz="1600"/>
          </a:p>
          <a:p>
            <a:pPr indent="0" lvl="0" marL="7315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1600">
                <a:solidFill>
                  <a:srgbClr val="00B050"/>
                </a:solidFill>
              </a:rPr>
              <a:t>cuando</a:t>
            </a:r>
            <a:r>
              <a:rPr lang="es-AR" sz="1600"/>
              <a:t> la persona ingresa el número de tarjeta 1234 y presiona “Pagar”</a:t>
            </a:r>
            <a:endParaRPr sz="1600"/>
          </a:p>
          <a:p>
            <a:pPr indent="0" lvl="0" marL="7315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1600">
                <a:solidFill>
                  <a:srgbClr val="00B050"/>
                </a:solidFill>
              </a:rPr>
              <a:t>entonces</a:t>
            </a:r>
            <a:r>
              <a:rPr lang="es-AR" sz="1600"/>
              <a:t> el sistema registra el pago  y retorna un resultado de éxito.</a:t>
            </a:r>
            <a:endParaRPr sz="16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t/>
            </a:r>
            <a:endParaRPr b="1" sz="16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t/>
            </a:r>
            <a:endParaRPr b="1" sz="19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rPr b="1" lang="es-AR" sz="1600"/>
              <a:t>Escenario 2: Pago fallido por número de tarjeta de crédito inexistente</a:t>
            </a:r>
            <a:endParaRPr b="1" sz="1600"/>
          </a:p>
          <a:p>
            <a:pPr indent="0" lvl="0" marL="274326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1600">
                <a:solidFill>
                  <a:srgbClr val="00B050"/>
                </a:solidFill>
              </a:rPr>
              <a:t>Dado</a:t>
            </a:r>
            <a:r>
              <a:rPr lang="es-AR" sz="1600"/>
              <a:t> que la conexión con el servidor del banco es exitosa y el número 3456 no</a:t>
            </a:r>
            <a:endParaRPr sz="1600"/>
          </a:p>
          <a:p>
            <a:pPr indent="0" lvl="0" marL="274326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600"/>
              <a:t>corresponde a un número de tarjeta de crédito,</a:t>
            </a:r>
            <a:endParaRPr sz="1600"/>
          </a:p>
          <a:p>
            <a:pPr indent="0" lvl="0" marL="274326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1600">
                <a:solidFill>
                  <a:srgbClr val="00B050"/>
                </a:solidFill>
              </a:rPr>
              <a:t>cuando</a:t>
            </a:r>
            <a:r>
              <a:rPr lang="es-AR" sz="1600"/>
              <a:t> el matriculado o la persona ingresa el número de tarjeta 3456 y presiona “Pagar”</a:t>
            </a:r>
            <a:endParaRPr sz="1600"/>
          </a:p>
          <a:p>
            <a:pPr indent="0" lvl="0" marL="274326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AR" sz="1600">
                <a:solidFill>
                  <a:srgbClr val="00B050"/>
                </a:solidFill>
              </a:rPr>
              <a:t>entonces</a:t>
            </a:r>
            <a:r>
              <a:rPr lang="es-AR" sz="1600"/>
              <a:t> el sistema retorna un error por número de tarjeta inexistente.</a:t>
            </a:r>
            <a:endParaRPr sz="16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t/>
            </a:r>
            <a:endParaRPr b="1" sz="1600"/>
          </a:p>
          <a:p>
            <a:pPr indent="-179735" lvl="0" marL="274325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9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cc5290fb49_1_0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286" name="Google Shape;286;g2cc5290fb49_1_0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87" name="Google Shape;287;g2cc5290fb49_1_0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88" name="Google Shape;288;g2cc5290fb49_1_0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grpSp>
        <p:nvGrpSpPr>
          <p:cNvPr id="289" name="Google Shape;289;g2cc5290fb49_1_0"/>
          <p:cNvGrpSpPr/>
          <p:nvPr/>
        </p:nvGrpSpPr>
        <p:grpSpPr>
          <a:xfrm>
            <a:off x="904411" y="1103189"/>
            <a:ext cx="10471204" cy="5618806"/>
            <a:chOff x="371095" y="1309156"/>
            <a:chExt cx="8773527" cy="5142601"/>
          </a:xfrm>
        </p:grpSpPr>
        <p:sp>
          <p:nvSpPr>
            <p:cNvPr id="290" name="Google Shape;290;g2cc5290fb49_1_0"/>
            <p:cNvSpPr/>
            <p:nvPr/>
          </p:nvSpPr>
          <p:spPr>
            <a:xfrm flipH="1">
              <a:off x="371095" y="1309157"/>
              <a:ext cx="8773500" cy="5142600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91" name="Google Shape;291;g2cc5290fb49_1_0"/>
            <p:cNvSpPr/>
            <p:nvPr/>
          </p:nvSpPr>
          <p:spPr>
            <a:xfrm>
              <a:off x="7197022" y="1309156"/>
              <a:ext cx="1947600" cy="2943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g2cc5290fb49_1_0"/>
          <p:cNvSpPr txBox="1"/>
          <p:nvPr>
            <p:ph idx="2" type="body"/>
          </p:nvPr>
        </p:nvSpPr>
        <p:spPr>
          <a:xfrm>
            <a:off x="1637882" y="1424871"/>
            <a:ext cx="9455400" cy="5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0"/>
              <a:buNone/>
            </a:pPr>
            <a:r>
              <a:rPr b="1" lang="es-AR" sz="2000"/>
              <a:t>Criterios de Aceptación (Pagar con Tarjeta)</a:t>
            </a:r>
            <a:r>
              <a:rPr lang="es-AR" sz="2000"/>
              <a:t>: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0"/>
              <a:buNone/>
            </a:pPr>
            <a:r>
              <a:t/>
            </a:r>
            <a:endParaRPr sz="20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rPr b="1" lang="es-AR" sz="1800"/>
              <a:t>Escenario 4: Pago fallido por saldo insuficiente de tarjeta de crédito</a:t>
            </a:r>
            <a:endParaRPr sz="1800"/>
          </a:p>
          <a:p>
            <a:pPr indent="0" lvl="2" marL="594371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Dado </a:t>
            </a:r>
            <a:r>
              <a:rPr lang="es-AR" sz="1800"/>
              <a:t>que la conexión con el servidor del banco es exitosa y el número de tarjeta 2134 corresponde a una tarjeta de crédito y no tiene saldo para el pago que se solicita hacer</a:t>
            </a:r>
            <a:endParaRPr sz="18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cuando</a:t>
            </a:r>
            <a:r>
              <a:rPr b="1" lang="es-AR" sz="1800"/>
              <a:t> </a:t>
            </a:r>
            <a:r>
              <a:rPr lang="es-AR" sz="1800"/>
              <a:t>el matriculado o la persona ingresa el número de tarjeta 2134 y presiona “Pagar”</a:t>
            </a:r>
            <a:endParaRPr sz="1800"/>
          </a:p>
          <a:p>
            <a:pPr indent="50800" lvl="2" marL="5429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entonces</a:t>
            </a:r>
            <a:r>
              <a:rPr b="1" lang="es-AR" sz="1800"/>
              <a:t> </a:t>
            </a:r>
            <a:r>
              <a:rPr lang="es-AR" sz="1800"/>
              <a:t>el sistema retorna un error por saldo insuficiente.</a:t>
            </a:r>
            <a:endParaRPr sz="1800"/>
          </a:p>
          <a:p>
            <a:pPr indent="50800" lvl="2" marL="5429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b="1" sz="18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rPr b="1" lang="es-AR" sz="1800"/>
              <a:t>Escenario 5: Pago fallido por fallo en la conexión con el servidor externo del banco</a:t>
            </a:r>
            <a:endParaRPr sz="1800"/>
          </a:p>
          <a:p>
            <a:pPr indent="0" lvl="2" marL="594371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Dado </a:t>
            </a:r>
            <a:r>
              <a:rPr lang="es-AR" sz="1800"/>
              <a:t>que</a:t>
            </a:r>
            <a:r>
              <a:rPr lang="es-AR" sz="1800">
                <a:solidFill>
                  <a:srgbClr val="00B050"/>
                </a:solidFill>
              </a:rPr>
              <a:t> </a:t>
            </a:r>
            <a:r>
              <a:rPr lang="es-AR" sz="1800"/>
              <a:t>no se pudo realizar la conexión con el servidor del banco</a:t>
            </a:r>
            <a:endParaRPr sz="18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cuando</a:t>
            </a:r>
            <a:r>
              <a:rPr b="1" lang="es-AR" sz="1800"/>
              <a:t> </a:t>
            </a:r>
            <a:r>
              <a:rPr lang="es-AR" sz="1800"/>
              <a:t>el matriculado o la persona ingresa un número de tarjeta y presiona “Pagar”</a:t>
            </a:r>
            <a:endParaRPr sz="1800"/>
          </a:p>
          <a:p>
            <a:pPr indent="50800" lvl="2" marL="5429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entonces</a:t>
            </a:r>
            <a:r>
              <a:rPr b="1" lang="es-AR" sz="1800"/>
              <a:t> </a:t>
            </a:r>
            <a:r>
              <a:rPr lang="es-AR" sz="1800"/>
              <a:t>el sistema retorna un error por conexión fallida.</a:t>
            </a:r>
            <a:endParaRPr sz="18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b="1" sz="1600"/>
          </a:p>
          <a:p>
            <a:pPr indent="-179735" lvl="0" marL="274325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9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d06325a23_0_0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s-AR"/>
              <a:t>Ejemplo – Historias a desarrollar con listado de cursos con cupo</a:t>
            </a:r>
            <a:endParaRPr/>
          </a:p>
        </p:txBody>
      </p:sp>
      <p:sp>
        <p:nvSpPr>
          <p:cNvPr id="298" name="Google Shape;298;g22d06325a23_0_0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299" name="Google Shape;299;g22d06325a23_0_0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00" name="Google Shape;300;g22d06325a23_0_0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301" name="Google Shape;301;g22d06325a23_0_0"/>
          <p:cNvSpPr txBox="1"/>
          <p:nvPr>
            <p:ph idx="2" type="body"/>
          </p:nvPr>
        </p:nvSpPr>
        <p:spPr>
          <a:xfrm>
            <a:off x="1690256" y="1403926"/>
            <a:ext cx="8516700" cy="4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lang="es-AR"/>
              <a:t>Rol de Usuarios</a:t>
            </a:r>
            <a:r>
              <a:rPr lang="es-AR"/>
              <a:t>:</a:t>
            </a:r>
            <a:endParaRPr/>
          </a:p>
          <a:p>
            <a:pPr indent="-406525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lang="es-AR"/>
              <a:t>Persona (no inscripta en el instituto)</a:t>
            </a:r>
            <a:endParaRPr/>
          </a:p>
          <a:p>
            <a:pPr indent="-406525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lang="es-AR"/>
              <a:t>Matriculado</a:t>
            </a:r>
            <a:endParaRPr/>
          </a:p>
          <a:p>
            <a:pPr indent="-274325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274325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rPr b="1" lang="es-AR"/>
              <a:t>Historias de Usuario: </a:t>
            </a:r>
            <a:endParaRPr/>
          </a:p>
          <a:p>
            <a:pPr indent="-406525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lang="es-AR"/>
              <a:t>Matricular persona</a:t>
            </a:r>
            <a:endParaRPr/>
          </a:p>
          <a:p>
            <a:pPr indent="-406525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lang="es-AR"/>
              <a:t>Inscribir matriculado a curso</a:t>
            </a:r>
            <a:endParaRPr/>
          </a:p>
          <a:p>
            <a:pPr indent="-406525" lvl="0" marL="719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Font typeface="Arial"/>
              <a:buChar char="•"/>
            </a:pPr>
            <a:r>
              <a:rPr lang="es-AR"/>
              <a:t>Pagar con tarjeta</a:t>
            </a:r>
            <a:endParaRPr/>
          </a:p>
          <a:p>
            <a:pPr indent="-406525" lvl="0" marL="7191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•"/>
            </a:pPr>
            <a:r>
              <a:rPr lang="es-AR"/>
              <a:t>Listar cursos con cupo.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1599"/>
              <a:buNone/>
            </a:pPr>
            <a:r>
              <a:rPr lang="es-AR"/>
              <a:t>Si agregamos esta historia desaparece el escenario 2 de la HU “Elegir un curso” ya que solo se puede elegir un curso si previamente fue listado y por lo tanto tiene cupo.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1599"/>
              <a:buNone/>
            </a:pPr>
            <a:r>
              <a:rPr lang="es-AR"/>
              <a:t>Además si aclaramos que el botón de “Inscribirse” solo se muestra en los cursos en los que no se está inscripto previamente, también se puede eliminar el escenario 3 de la HU “Elegir un curso”. Esto mejora la experiencia del usuario, ya que de otra manera permitiríamos presionar “Inscribirse” sobre un curso al que el matriculado ya está inscripto y sabemos que fallará.</a:t>
            </a:r>
            <a:endParaRPr/>
          </a:p>
          <a:p>
            <a:pPr indent="-158501" lvl="1" marL="548651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d06325a23_0_14"/>
          <p:cNvSpPr/>
          <p:nvPr/>
        </p:nvSpPr>
        <p:spPr>
          <a:xfrm>
            <a:off x="1806702" y="1301753"/>
            <a:ext cx="8747100" cy="4542600"/>
          </a:xfrm>
          <a:prstGeom prst="snip1Rect">
            <a:avLst>
              <a:gd fmla="val 1512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7" name="Google Shape;307;g22d06325a23_0_14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308" name="Google Shape;308;g22d06325a23_0_14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309" name="Google Shape;309;g22d06325a23_0_14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10" name="Google Shape;310;g22d06325a23_0_14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sp>
        <p:nvSpPr>
          <p:cNvPr id="311" name="Google Shape;311;g22d06325a23_0_14"/>
          <p:cNvSpPr txBox="1"/>
          <p:nvPr>
            <p:ph idx="2" type="body"/>
          </p:nvPr>
        </p:nvSpPr>
        <p:spPr>
          <a:xfrm>
            <a:off x="2034550" y="1603524"/>
            <a:ext cx="81723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Id</a:t>
            </a:r>
            <a:r>
              <a:rPr lang="es-AR"/>
              <a:t>: Listar cursos con cupo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Título</a:t>
            </a:r>
            <a:r>
              <a:rPr lang="es-AR"/>
              <a:t>: Como</a:t>
            </a:r>
            <a:r>
              <a:rPr i="1" lang="es-AR"/>
              <a:t> matriculado</a:t>
            </a:r>
            <a:r>
              <a:rPr lang="es-AR"/>
              <a:t> quiero obtener un listado de cursos con cupo para poder seleccionar uno al momento de inscribirme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rPr b="1" lang="es-AR"/>
              <a:t>Reglas de Negocio</a:t>
            </a:r>
            <a:r>
              <a:rPr lang="es-AR"/>
              <a:t>:</a:t>
            </a:r>
            <a:endParaRPr/>
          </a:p>
          <a:p>
            <a:pPr indent="0" lvl="1" marL="27432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39194" lvl="0" marL="2743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2d06325a23_0_23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s-AR"/>
              <a:t>Historias de Usuario</a:t>
            </a:r>
            <a:endParaRPr/>
          </a:p>
        </p:txBody>
      </p:sp>
      <p:sp>
        <p:nvSpPr>
          <p:cNvPr id="317" name="Google Shape;317;g22d06325a23_0_23"/>
          <p:cNvSpPr txBox="1"/>
          <p:nvPr>
            <p:ph idx="11" type="ftr"/>
          </p:nvPr>
        </p:nvSpPr>
        <p:spPr>
          <a:xfrm>
            <a:off x="4241634" y="6459795"/>
            <a:ext cx="51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/>
              <a:t>Ingeniería de Software I </a:t>
            </a:r>
            <a:endParaRPr/>
          </a:p>
        </p:txBody>
      </p:sp>
      <p:sp>
        <p:nvSpPr>
          <p:cNvPr id="318" name="Google Shape;318;g22d06325a23_0_23"/>
          <p:cNvSpPr txBox="1"/>
          <p:nvPr>
            <p:ph idx="12" type="sldNum"/>
          </p:nvPr>
        </p:nvSpPr>
        <p:spPr>
          <a:xfrm>
            <a:off x="816864" y="6356350"/>
            <a:ext cx="264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19" name="Google Shape;319;g22d06325a23_0_23"/>
          <p:cNvSpPr txBox="1"/>
          <p:nvPr>
            <p:ph idx="1" type="body"/>
          </p:nvPr>
        </p:nvSpPr>
        <p:spPr>
          <a:xfrm>
            <a:off x="4437" y="6451617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5" lvl="0" marL="274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/>
          </a:p>
        </p:txBody>
      </p:sp>
      <p:grpSp>
        <p:nvGrpSpPr>
          <p:cNvPr id="320" name="Google Shape;320;g22d06325a23_0_23"/>
          <p:cNvGrpSpPr/>
          <p:nvPr/>
        </p:nvGrpSpPr>
        <p:grpSpPr>
          <a:xfrm>
            <a:off x="904411" y="1103189"/>
            <a:ext cx="10471204" cy="5618806"/>
            <a:chOff x="371095" y="1309156"/>
            <a:chExt cx="8773527" cy="5142601"/>
          </a:xfrm>
        </p:grpSpPr>
        <p:sp>
          <p:nvSpPr>
            <p:cNvPr id="321" name="Google Shape;321;g22d06325a23_0_23"/>
            <p:cNvSpPr/>
            <p:nvPr/>
          </p:nvSpPr>
          <p:spPr>
            <a:xfrm flipH="1">
              <a:off x="371095" y="1309157"/>
              <a:ext cx="8773500" cy="5142600"/>
            </a:xfrm>
            <a:prstGeom prst="snip1Rect">
              <a:avLst>
                <a:gd fmla="val 15123" name="adj"/>
              </a:avLst>
            </a:prstGeom>
            <a:solidFill>
              <a:srgbClr val="FAF69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2" name="Google Shape;322;g22d06325a23_0_23"/>
            <p:cNvSpPr/>
            <p:nvPr/>
          </p:nvSpPr>
          <p:spPr>
            <a:xfrm>
              <a:off x="7197022" y="1309156"/>
              <a:ext cx="1947600" cy="2943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Reverso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g22d06325a23_0_23"/>
          <p:cNvSpPr txBox="1"/>
          <p:nvPr>
            <p:ph idx="2" type="body"/>
          </p:nvPr>
        </p:nvSpPr>
        <p:spPr>
          <a:xfrm>
            <a:off x="1637882" y="1424871"/>
            <a:ext cx="9455400" cy="5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0"/>
              <a:buNone/>
            </a:pPr>
            <a:r>
              <a:rPr b="1" lang="es-AR" sz="2000"/>
              <a:t>Criterios de Aceptación (Listar cursos con cupo)</a:t>
            </a:r>
            <a:r>
              <a:rPr lang="es-AR" sz="2000"/>
              <a:t>: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0"/>
              <a:buNone/>
            </a:pPr>
            <a:r>
              <a:t/>
            </a:r>
            <a:endParaRPr sz="20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rPr b="1" lang="es-AR" sz="2000"/>
              <a:t>Escenario 1:  Listado exitoso</a:t>
            </a:r>
            <a:endParaRPr sz="3000"/>
          </a:p>
          <a:p>
            <a:pPr indent="0" lvl="2" marL="594371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Dado </a:t>
            </a:r>
            <a:r>
              <a:rPr lang="es-AR" sz="1800"/>
              <a:t>que existen cursos con menos de 30 inscriptos</a:t>
            </a:r>
            <a:endParaRPr sz="2600"/>
          </a:p>
          <a:p>
            <a:pPr indent="0" lvl="2" marL="594371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cuando</a:t>
            </a:r>
            <a:r>
              <a:rPr b="1" lang="es-AR" sz="1800"/>
              <a:t> </a:t>
            </a:r>
            <a:r>
              <a:rPr lang="es-AR" sz="1800"/>
              <a:t>el matriculado ingresa para inscribirse a un curso</a:t>
            </a:r>
            <a:endParaRPr sz="26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entonces</a:t>
            </a:r>
            <a:r>
              <a:rPr b="1" lang="es-AR" sz="1800"/>
              <a:t> </a:t>
            </a:r>
            <a:r>
              <a:rPr lang="es-AR" sz="1800"/>
              <a:t>el sistema muestra un listado con los cursos con menos de 30 inscriptos, junto al botón “Inscribirse” para los cursos a los que no se encuentra inscripto.</a:t>
            </a:r>
            <a:endParaRPr sz="18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b="1" sz="1800"/>
          </a:p>
          <a:p>
            <a:pPr indent="0" lvl="1" marL="274326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24"/>
              <a:buNone/>
            </a:pPr>
            <a:r>
              <a:rPr b="1" lang="es-AR" sz="2000"/>
              <a:t>Escenario 2:  Listado vacío</a:t>
            </a:r>
            <a:endParaRPr sz="3000"/>
          </a:p>
          <a:p>
            <a:pPr indent="0" lvl="2" marL="594371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Dado </a:t>
            </a:r>
            <a:r>
              <a:rPr lang="es-AR" sz="1800"/>
              <a:t>que no hay cursos con menos de 30 inscriptos</a:t>
            </a:r>
            <a:endParaRPr sz="26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cuando</a:t>
            </a:r>
            <a:r>
              <a:rPr b="1" lang="es-AR" sz="1800"/>
              <a:t> </a:t>
            </a:r>
            <a:r>
              <a:rPr lang="es-AR" sz="1800"/>
              <a:t>el matriculado ingresa para inscribirse a un curso</a:t>
            </a:r>
            <a:endParaRPr sz="2600"/>
          </a:p>
          <a:p>
            <a:pPr indent="-228600" lvl="2" marL="822974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</a:pPr>
            <a:r>
              <a:rPr b="1" lang="es-AR" sz="1800">
                <a:solidFill>
                  <a:srgbClr val="00B050"/>
                </a:solidFill>
              </a:rPr>
              <a:t>entonces</a:t>
            </a:r>
            <a:r>
              <a:rPr b="1" lang="es-AR" sz="1800"/>
              <a:t> </a:t>
            </a:r>
            <a:r>
              <a:rPr lang="es-AR" sz="1800"/>
              <a:t>el sistema muestra un mensaje que indica que no hay cursos con cupo disponible.</a:t>
            </a:r>
            <a:endParaRPr sz="2600"/>
          </a:p>
          <a:p>
            <a:pPr indent="-179735" lvl="0" marL="274325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49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en">
  <a:themeElements>
    <a:clrScheme name="Orige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2015-09-24T14:46:12Z</dcterms:created>
  <dc:creator>Ariel Pasini</dc:creator>
</cp:coreProperties>
</file>